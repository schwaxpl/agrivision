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5"/>
  </p:notesMasterIdLst>
  <p:sldIdLst>
    <p:sldId id="258" r:id="rId3"/>
    <p:sldId id="257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769" autoAdjust="0"/>
  </p:normalViewPr>
  <p:slideViewPr>
    <p:cSldViewPr>
      <p:cViewPr varScale="1">
        <p:scale>
          <a:sx n="67" d="100"/>
          <a:sy n="67" d="100"/>
        </p:scale>
        <p:origin x="190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EA96E-BEEF-4375-B251-DCCF9C3028BB}" type="datetimeFigureOut">
              <a:rPr lang="fr-FR" smtClean="0"/>
              <a:t>03/01/2024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3B803-2D11-442C-9C29-668BB3A9D4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83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3B803-2D11-442C-9C29-668BB3A9D4B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404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3B803-2D11-442C-9C29-668BB3A9D4B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2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6660000" cy="1152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3401" y="1676400"/>
            <a:ext cx="5334000" cy="162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86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011BAC4-5767-4F03-AD2B-4C24AFE40A2C}" type="datetimeFigureOut">
              <a:rPr lang="fr-FR" smtClean="0"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7A45E8-471A-4DF4-BF16-7383EFB349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2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39552" y="285293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numéro de diapositive 5"/>
          <p:cNvSpPr txBox="1">
            <a:spLocks/>
          </p:cNvSpPr>
          <p:nvPr userDrawn="1"/>
        </p:nvSpPr>
        <p:spPr>
          <a:xfrm>
            <a:off x="6983413" y="63690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9pPr>
          </a:lstStyle>
          <a:p>
            <a:pPr>
              <a:defRPr/>
            </a:pPr>
            <a:fld id="{CE769808-CBBB-4661-9A99-170C32AF1D99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D561AF-0447-4575-BA73-0B5AECFB4941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grpSp>
        <p:nvGrpSpPr>
          <p:cNvPr id="16" name="Groupe 15"/>
          <p:cNvGrpSpPr/>
          <p:nvPr userDrawn="1"/>
        </p:nvGrpSpPr>
        <p:grpSpPr>
          <a:xfrm>
            <a:off x="323546" y="332656"/>
            <a:ext cx="8568934" cy="6218956"/>
            <a:chOff x="323546" y="332656"/>
            <a:chExt cx="8568934" cy="6218956"/>
          </a:xfrm>
        </p:grpSpPr>
        <p:grpSp>
          <p:nvGrpSpPr>
            <p:cNvPr id="15" name="Groupe 14"/>
            <p:cNvGrpSpPr/>
            <p:nvPr userDrawn="1"/>
          </p:nvGrpSpPr>
          <p:grpSpPr>
            <a:xfrm>
              <a:off x="323546" y="332656"/>
              <a:ext cx="8568934" cy="6218944"/>
              <a:chOff x="311641" y="415456"/>
              <a:chExt cx="8568934" cy="6218944"/>
            </a:xfrm>
          </p:grpSpPr>
          <p:grpSp>
            <p:nvGrpSpPr>
              <p:cNvPr id="8" name="Groupe 8"/>
              <p:cNvGrpSpPr>
                <a:grpSpLocks/>
              </p:cNvGrpSpPr>
              <p:nvPr userDrawn="1"/>
            </p:nvGrpSpPr>
            <p:grpSpPr bwMode="auto">
              <a:xfrm>
                <a:off x="311641" y="415500"/>
                <a:ext cx="5587190" cy="6218900"/>
                <a:chOff x="1879" y="2217"/>
                <a:chExt cx="55900" cy="62189"/>
              </a:xfrm>
            </p:grpSpPr>
            <p:grpSp>
              <p:nvGrpSpPr>
                <p:cNvPr id="9" name="Groupe 7"/>
                <p:cNvGrpSpPr>
                  <a:grpSpLocks/>
                </p:cNvGrpSpPr>
                <p:nvPr/>
              </p:nvGrpSpPr>
              <p:grpSpPr bwMode="auto">
                <a:xfrm>
                  <a:off x="1879" y="2217"/>
                  <a:ext cx="55900" cy="19440"/>
                  <a:chOff x="1879" y="2217"/>
                  <a:chExt cx="55900" cy="19440"/>
                </a:xfrm>
              </p:grpSpPr>
              <p:pic>
                <p:nvPicPr>
                  <p:cNvPr id="11" name="Image 5" descr="20170403_115513"/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1879" y="2217"/>
                    <a:ext cx="24450" cy="144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4" name="Image 1" descr="20170606_121006"/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33331" y="7257"/>
                    <a:ext cx="24448" cy="144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1035" name="Picture 11" descr="20170421_152410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1879" y="49972"/>
                  <a:ext cx="24414" cy="144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5132" name="Picture 12"/>
              <p:cNvPicPr>
                <a:picLocks noChangeAspect="1" noChangeArrowheads="1"/>
              </p:cNvPicPr>
              <p:nvPr userDrawn="1"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6442143" y="415456"/>
                <a:ext cx="2438432" cy="14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1" name="Picture 11"/>
              <p:cNvPicPr>
                <a:picLocks noChangeAspect="1" noChangeArrowheads="1"/>
              </p:cNvPicPr>
              <p:nvPr userDrawn="1"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3455215" y="4879952"/>
                <a:ext cx="2444671" cy="14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133" name="Picture 13"/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451619" y="5111612"/>
              <a:ext cx="2440173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09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876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8153400" cy="434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69808-CBBB-4661-9A99-170C32AF1D99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180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3400" y="1600201"/>
            <a:ext cx="8153400" cy="4419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Aft>
                <a:spcPts val="600"/>
              </a:spcAft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Titr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876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6CE86-C35C-4762-A322-5FD0569E552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408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200"/>
            </a:lvl1pPr>
            <a:lvl2pPr>
              <a:spcAft>
                <a:spcPts val="600"/>
              </a:spcAft>
              <a:defRPr sz="20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200"/>
            </a:lvl1pPr>
            <a:lvl2pPr>
              <a:spcAft>
                <a:spcPts val="600"/>
              </a:spcAft>
              <a:defRPr sz="20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876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06F0A-EA1F-4F4A-9181-B329F66FCC77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01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2" descr="Page garde base txte logo.pd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9400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Image 3" descr="Page garde Végétal big boomerang.pdf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165100"/>
            <a:ext cx="82550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4" name="Connecteur droit 2"/>
          <p:cNvCxnSpPr>
            <a:cxnSpLocks noChangeShapeType="1"/>
          </p:cNvCxnSpPr>
          <p:nvPr/>
        </p:nvCxnSpPr>
        <p:spPr bwMode="auto">
          <a:xfrm>
            <a:off x="609600" y="1219200"/>
            <a:ext cx="6781800" cy="1588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>
            <a:outerShdw rotWithShape="0">
              <a:schemeClr val="bg1">
                <a:alpha val="37999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75" name="Image 4" descr="Page courante boomerang.pdf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7625" y="4763"/>
            <a:ext cx="17653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Image 5" descr="Page titre pied Végétal.pdf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5544" y="6283325"/>
            <a:ext cx="7013856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ZoneTexte 6"/>
          <p:cNvSpPr txBox="1">
            <a:spLocks noChangeArrowheads="1"/>
          </p:cNvSpPr>
          <p:nvPr/>
        </p:nvSpPr>
        <p:spPr bwMode="auto">
          <a:xfrm>
            <a:off x="3810000" y="6457950"/>
            <a:ext cx="5181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9pPr>
          </a:lstStyle>
          <a:p>
            <a:pPr algn="r" eaLnBrk="1" hangingPunct="1">
              <a:spcAft>
                <a:spcPts val="0"/>
              </a:spcAft>
              <a:defRPr/>
            </a:pPr>
            <a:r>
              <a:rPr lang="fr-FR" altLang="fr-FR" sz="500" dirty="0">
                <a:solidFill>
                  <a:schemeClr val="bg1"/>
                </a:solidFill>
                <a:latin typeface="Verdana" pitchFamily="-110" charset="0"/>
              </a:rPr>
              <a:t>Ce document est la propriété exclusive de la Chambre d’agriculture Pays de la Loire.</a:t>
            </a:r>
          </a:p>
          <a:p>
            <a:pPr algn="r" eaLnBrk="1" hangingPunct="1">
              <a:spcAft>
                <a:spcPts val="0"/>
              </a:spcAft>
              <a:defRPr/>
            </a:pPr>
            <a:r>
              <a:rPr lang="fr-FR" altLang="fr-FR" sz="500" dirty="0">
                <a:solidFill>
                  <a:schemeClr val="bg1"/>
                </a:solidFill>
                <a:latin typeface="Verdana" pitchFamily="-110" charset="0"/>
              </a:rPr>
              <a:t>Reproduction et communication à un tiers après autorisation de la Chambre d’agriculture Pays de la Loire.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831013" y="621665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fld id="{60D561AF-0447-4575-BA73-0B5AECFB4941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Titre 1"/>
          <p:cNvSpPr>
            <a:spLocks noGrp="1"/>
          </p:cNvSpPr>
          <p:nvPr>
            <p:ph type="ctrTitle"/>
          </p:nvPr>
        </p:nvSpPr>
        <p:spPr>
          <a:xfrm>
            <a:off x="1231003" y="288775"/>
            <a:ext cx="6876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fr-FR" sz="2800" b="1" dirty="0"/>
              <a:t>Formation Démarche de Transition DT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type="subTitle" idx="1"/>
          </p:nvPr>
        </p:nvSpPr>
        <p:spPr>
          <a:xfrm>
            <a:off x="495300" y="1225550"/>
            <a:ext cx="8153400" cy="4751040"/>
          </a:xfrm>
        </p:spPr>
        <p:txBody>
          <a:bodyPr>
            <a:noAutofit/>
          </a:bodyPr>
          <a:lstStyle/>
          <a:p>
            <a:endParaRPr lang="fr-FR" sz="2000" dirty="0"/>
          </a:p>
          <a:p>
            <a:r>
              <a:rPr lang="fr-FR" sz="2000" dirty="0"/>
              <a:t>L’agriculture est confrontée à de multiples défis : changement climatique, crise énergétique, crise sanitaire, enjeux environnementaux… </a:t>
            </a:r>
          </a:p>
          <a:p>
            <a:r>
              <a:rPr lang="fr-FR" sz="2000" dirty="0"/>
              <a:t> </a:t>
            </a:r>
          </a:p>
          <a:p>
            <a:r>
              <a:rPr lang="fr-FR" sz="2000" dirty="0"/>
              <a:t>L’objectif de la région Pays de la Loire, dans le cadre du nouveau programme FEADER 2023-2027, est </a:t>
            </a:r>
            <a:r>
              <a:rPr lang="fr-FR" sz="2000" b="1" dirty="0"/>
              <a:t>d’accompagner le plus grand nombre d'agriculteurs dans une démarche de réflexion sur le fonctionnement de votre exploitation pour vous encourager à engager votre transition.</a:t>
            </a:r>
          </a:p>
          <a:p>
            <a:pPr marL="514350" lvl="1" algn="just">
              <a:buFontTx/>
              <a:buNone/>
              <a:defRPr/>
            </a:pPr>
            <a:endParaRPr lang="fr-FR" sz="1600" dirty="0">
              <a:solidFill>
                <a:schemeClr val="tx1"/>
              </a:solidFill>
            </a:endParaRPr>
          </a:p>
        </p:txBody>
      </p:sp>
      <p:pic>
        <p:nvPicPr>
          <p:cNvPr id="28774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137" y="0"/>
            <a:ext cx="1129866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9013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Titre 1"/>
          <p:cNvSpPr>
            <a:spLocks noGrp="1"/>
          </p:cNvSpPr>
          <p:nvPr>
            <p:ph type="ctrTitle"/>
          </p:nvPr>
        </p:nvSpPr>
        <p:spPr>
          <a:xfrm>
            <a:off x="1231003" y="288775"/>
            <a:ext cx="6876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fr-FR" sz="2800" b="1" dirty="0"/>
              <a:t>Formation Démarche de Transition DT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type="subTitle" idx="1"/>
          </p:nvPr>
        </p:nvSpPr>
        <p:spPr>
          <a:xfrm>
            <a:off x="495300" y="1225550"/>
            <a:ext cx="8153400" cy="4751040"/>
          </a:xfrm>
        </p:spPr>
        <p:txBody>
          <a:bodyPr>
            <a:noAutofit/>
          </a:bodyPr>
          <a:lstStyle/>
          <a:p>
            <a:pPr marL="0" indent="0">
              <a:buFontTx/>
              <a:buNone/>
              <a:defRPr/>
            </a:pPr>
            <a:r>
              <a:rPr lang="fr-FR" sz="1600" b="1" dirty="0"/>
              <a:t>Public</a:t>
            </a:r>
          </a:p>
          <a:p>
            <a:pPr>
              <a:defRPr/>
            </a:pPr>
            <a:r>
              <a:rPr lang="fr-FR" sz="1600" dirty="0"/>
              <a:t>Bénéficiaires des aides des dispositifs PCAE animal et végétal, transformation à la ferme, dotation jeunes agriculteurs.</a:t>
            </a:r>
          </a:p>
          <a:p>
            <a:pPr marL="0" indent="0">
              <a:buFontTx/>
              <a:buNone/>
              <a:defRPr/>
            </a:pPr>
            <a:endParaRPr lang="fr-FR" sz="500" dirty="0"/>
          </a:p>
          <a:p>
            <a:pPr marL="0" indent="0">
              <a:buFontTx/>
              <a:buNone/>
              <a:defRPr/>
            </a:pPr>
            <a:r>
              <a:rPr lang="fr-FR" sz="1600" b="1" dirty="0"/>
              <a:t>Conditions de validation</a:t>
            </a:r>
          </a:p>
          <a:p>
            <a:pPr lvl="1" algn="l">
              <a:defRPr/>
            </a:pPr>
            <a:r>
              <a:rPr lang="fr-FR" sz="1600" dirty="0">
                <a:solidFill>
                  <a:schemeClr val="tx1"/>
                </a:solidFill>
              </a:rPr>
              <a:t>Avoir réalisé , par le </a:t>
            </a:r>
            <a:r>
              <a:rPr lang="fr-FR" sz="1600" b="1" dirty="0">
                <a:solidFill>
                  <a:schemeClr val="tx1"/>
                </a:solidFill>
              </a:rPr>
              <a:t>même associé </a:t>
            </a:r>
            <a:r>
              <a:rPr lang="fr-FR" sz="1600" dirty="0">
                <a:solidFill>
                  <a:schemeClr val="tx1"/>
                </a:solidFill>
              </a:rPr>
              <a:t>:</a:t>
            </a:r>
          </a:p>
          <a:p>
            <a:pPr marL="1200150" lvl="2" indent="-285750" algn="l">
              <a:buFont typeface="Wingdings" panose="05000000000000000000" pitchFamily="2" charset="2"/>
              <a:buChar char="ü"/>
              <a:defRPr/>
            </a:pPr>
            <a:r>
              <a:rPr lang="fr-FR" sz="1600" dirty="0">
                <a:solidFill>
                  <a:schemeClr val="tx1"/>
                </a:solidFill>
              </a:rPr>
              <a:t>A minima 2 jours (14h) de formation collective,</a:t>
            </a:r>
          </a:p>
          <a:p>
            <a:pPr marL="1200150" lvl="2" indent="-285750" algn="l">
              <a:buFont typeface="Wingdings" panose="05000000000000000000" pitchFamily="2" charset="2"/>
              <a:buChar char="ü"/>
              <a:defRPr/>
            </a:pPr>
            <a:r>
              <a:rPr lang="fr-FR" sz="1600" dirty="0">
                <a:solidFill>
                  <a:schemeClr val="tx1"/>
                </a:solidFill>
              </a:rPr>
              <a:t>1 visite d’accompagnement individualisé.</a:t>
            </a:r>
          </a:p>
          <a:p>
            <a:pPr lvl="1" algn="l">
              <a:defRPr/>
            </a:pPr>
            <a:endParaRPr lang="fr-FR" sz="1600" dirty="0"/>
          </a:p>
          <a:p>
            <a:pPr lvl="1" algn="l">
              <a:defRPr/>
            </a:pPr>
            <a:r>
              <a:rPr lang="fr-FR" sz="1600" dirty="0">
                <a:solidFill>
                  <a:schemeClr val="tx1"/>
                </a:solidFill>
              </a:rPr>
              <a:t>Une seule formation exigée, </a:t>
            </a:r>
            <a:r>
              <a:rPr lang="fr-FR" sz="1600" b="1" dirty="0">
                <a:solidFill>
                  <a:schemeClr val="tx1"/>
                </a:solidFill>
              </a:rPr>
              <a:t>réalisée sur la période 2024-2027</a:t>
            </a:r>
            <a:r>
              <a:rPr lang="fr-FR" sz="1600" dirty="0">
                <a:solidFill>
                  <a:schemeClr val="tx1"/>
                </a:solidFill>
              </a:rPr>
              <a:t>, quel que soit le nombre de demandes</a:t>
            </a:r>
            <a:r>
              <a:rPr lang="fr-FR" sz="1600" dirty="0"/>
              <a:t>.</a:t>
            </a:r>
          </a:p>
          <a:p>
            <a:pPr lvl="1" algn="just">
              <a:defRPr/>
            </a:pPr>
            <a:r>
              <a:rPr lang="fr-FR" sz="1600" dirty="0">
                <a:solidFill>
                  <a:schemeClr val="tx1"/>
                </a:solidFill>
              </a:rPr>
              <a:t>Pour la DJA, la formation doit être réalisée par le </a:t>
            </a:r>
            <a:r>
              <a:rPr lang="fr-FR" sz="1600" b="1" dirty="0">
                <a:solidFill>
                  <a:schemeClr val="tx1"/>
                </a:solidFill>
              </a:rPr>
              <a:t>porteur de projet</a:t>
            </a:r>
            <a:r>
              <a:rPr lang="fr-FR" sz="1600" dirty="0">
                <a:solidFill>
                  <a:schemeClr val="tx1"/>
                </a:solidFill>
              </a:rPr>
              <a:t>.</a:t>
            </a:r>
          </a:p>
          <a:p>
            <a:pPr lvl="1" algn="l">
              <a:defRPr/>
            </a:pPr>
            <a:endParaRPr lang="fr-FR" sz="1050" b="1" dirty="0">
              <a:solidFill>
                <a:schemeClr val="tx1"/>
              </a:solidFill>
            </a:endParaRPr>
          </a:p>
          <a:p>
            <a:pPr marL="57150" indent="0">
              <a:buFontTx/>
              <a:buNone/>
              <a:defRPr/>
            </a:pPr>
            <a:r>
              <a:rPr lang="fr-FR" sz="1600" b="1" dirty="0"/>
              <a:t>Bon à savoir</a:t>
            </a:r>
          </a:p>
          <a:p>
            <a:pPr marL="514350" lvl="1" algn="just">
              <a:defRPr/>
            </a:pPr>
            <a:r>
              <a:rPr lang="fr-FR" sz="1600" dirty="0">
                <a:solidFill>
                  <a:schemeClr val="tx1"/>
                </a:solidFill>
              </a:rPr>
              <a:t>Pour les PCAE, vous pouvez demander un acompte de 80% même si la formation n’est pas terminée. </a:t>
            </a:r>
          </a:p>
          <a:p>
            <a:pPr marL="514350" lvl="1" algn="just">
              <a:defRPr/>
            </a:pPr>
            <a:r>
              <a:rPr lang="fr-FR" sz="1600" dirty="0">
                <a:solidFill>
                  <a:schemeClr val="tx1"/>
                </a:solidFill>
              </a:rPr>
              <a:t>C’est uniquement suite à ces 2,5 jours, que nous vous délivrerons </a:t>
            </a:r>
            <a:r>
              <a:rPr lang="fr-FR" sz="1600" b="1" dirty="0">
                <a:solidFill>
                  <a:schemeClr val="tx1"/>
                </a:solidFill>
              </a:rPr>
              <a:t>l’attestation de formation </a:t>
            </a:r>
            <a:r>
              <a:rPr lang="fr-FR" sz="1600" dirty="0">
                <a:solidFill>
                  <a:schemeClr val="tx1"/>
                </a:solidFill>
              </a:rPr>
              <a:t>à envoyer avec votre dossier de demande de solde.</a:t>
            </a:r>
          </a:p>
          <a:p>
            <a:pPr marL="514350" lvl="1" algn="just">
              <a:buFontTx/>
              <a:buNone/>
              <a:defRPr/>
            </a:pPr>
            <a:endParaRPr lang="fr-FR" sz="1600" dirty="0">
              <a:solidFill>
                <a:schemeClr val="tx1"/>
              </a:solidFill>
            </a:endParaRPr>
          </a:p>
        </p:txBody>
      </p:sp>
      <p:pic>
        <p:nvPicPr>
          <p:cNvPr id="28774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137" y="0"/>
            <a:ext cx="1129866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5174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HVE">
  <a:themeElements>
    <a:clrScheme name="Personnalisée 2">
      <a:dk1>
        <a:sysClr val="windowText" lastClr="000000"/>
      </a:dk1>
      <a:lt1>
        <a:sysClr val="window" lastClr="FFFFFF"/>
      </a:lt1>
      <a:dk2>
        <a:srgbClr val="1B3861"/>
      </a:dk2>
      <a:lt2>
        <a:srgbClr val="38ABED"/>
      </a:lt2>
      <a:accent1>
        <a:srgbClr val="0C5986"/>
      </a:accent1>
      <a:accent2>
        <a:srgbClr val="C1CD4A"/>
      </a:accent2>
      <a:accent3>
        <a:srgbClr val="508709"/>
      </a:accent3>
      <a:accent4>
        <a:srgbClr val="BF5E00"/>
      </a:accent4>
      <a:accent5>
        <a:srgbClr val="9C0001"/>
      </a:accent5>
      <a:accent6>
        <a:srgbClr val="660075"/>
      </a:accent6>
      <a:hlink>
        <a:srgbClr val="ABF24D"/>
      </a:hlink>
      <a:folHlink>
        <a:srgbClr val="A0E7FB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Thème Office">
  <a:themeElements>
    <a:clrScheme name="Personnalisée 2">
      <a:dk1>
        <a:sysClr val="windowText" lastClr="000000"/>
      </a:dk1>
      <a:lt1>
        <a:sysClr val="window" lastClr="FFFFFF"/>
      </a:lt1>
      <a:dk2>
        <a:srgbClr val="1B3861"/>
      </a:dk2>
      <a:lt2>
        <a:srgbClr val="38ABED"/>
      </a:lt2>
      <a:accent1>
        <a:srgbClr val="0C5986"/>
      </a:accent1>
      <a:accent2>
        <a:srgbClr val="C1CD4A"/>
      </a:accent2>
      <a:accent3>
        <a:srgbClr val="508709"/>
      </a:accent3>
      <a:accent4>
        <a:srgbClr val="BF5E00"/>
      </a:accent4>
      <a:accent5>
        <a:srgbClr val="9C0001"/>
      </a:accent5>
      <a:accent6>
        <a:srgbClr val="660075"/>
      </a:accent6>
      <a:hlink>
        <a:srgbClr val="ABF24D"/>
      </a:hlink>
      <a:folHlink>
        <a:srgbClr val="A0E7FB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ThèmeHVE</Template>
  <TotalTime>573</TotalTime>
  <Words>206</Words>
  <Application>Microsoft Office PowerPoint</Application>
  <PresentationFormat>Affichage à l'écran (4:3)</PresentationFormat>
  <Paragraphs>22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Verdana</vt:lpstr>
      <vt:lpstr>Wingdings</vt:lpstr>
      <vt:lpstr>ThèmeHVE</vt:lpstr>
      <vt:lpstr>2_Thème Office</vt:lpstr>
      <vt:lpstr>Formation Démarche de Transition DT</vt:lpstr>
      <vt:lpstr>Formation Démarche de Transition DT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PCAE</dc:title>
  <dc:creator>ESMILLER Marie</dc:creator>
  <cp:lastModifiedBy>Lenaig MENUET</cp:lastModifiedBy>
  <cp:revision>25</cp:revision>
  <dcterms:created xsi:type="dcterms:W3CDTF">2019-11-19T10:29:35Z</dcterms:created>
  <dcterms:modified xsi:type="dcterms:W3CDTF">2024-01-03T10:02:27Z</dcterms:modified>
</cp:coreProperties>
</file>