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5" r:id="rId2"/>
    <p:sldId id="266" r:id="rId3"/>
  </p:sldIdLst>
  <p:sldSz cx="9906000" cy="6858000" type="A4"/>
  <p:notesSz cx="6811963" cy="9942513"/>
  <p:defaultTextStyle>
    <a:defPPr>
      <a:defRPr lang="fr-FR"/>
    </a:defPPr>
    <a:lvl1pPr marL="0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908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816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724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631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539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447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355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263" algn="l" defTabSz="95781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847"/>
    <a:srgbClr val="F4C290"/>
    <a:srgbClr val="F7F763"/>
    <a:srgbClr val="FFFC85"/>
    <a:srgbClr val="FFFB57"/>
    <a:srgbClr val="33CC33"/>
    <a:srgbClr val="99FF6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83" autoAdjust="0"/>
    <p:restoredTop sz="94660"/>
  </p:normalViewPr>
  <p:slideViewPr>
    <p:cSldViewPr>
      <p:cViewPr varScale="1">
        <p:scale>
          <a:sx n="83" d="100"/>
          <a:sy n="83" d="100"/>
        </p:scale>
        <p:origin x="-1618" y="-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2250" cy="496629"/>
          </a:xfrm>
          <a:prstGeom prst="rect">
            <a:avLst/>
          </a:prstGeom>
        </p:spPr>
        <p:txBody>
          <a:bodyPr vert="horz" lIns="63225" tIns="31612" rIns="63225" bIns="31612" rtlCol="0"/>
          <a:lstStyle>
            <a:lvl1pPr algn="l">
              <a:defRPr sz="8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8624" y="0"/>
            <a:ext cx="2952250" cy="496629"/>
          </a:xfrm>
          <a:prstGeom prst="rect">
            <a:avLst/>
          </a:prstGeom>
        </p:spPr>
        <p:txBody>
          <a:bodyPr vert="horz" lIns="63225" tIns="31612" rIns="63225" bIns="31612" rtlCol="0"/>
          <a:lstStyle>
            <a:lvl1pPr algn="r">
              <a:defRPr sz="800"/>
            </a:lvl1pPr>
          </a:lstStyle>
          <a:p>
            <a:fld id="{184DA307-FD62-4DB1-B1C2-DA894A5C8032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443678"/>
            <a:ext cx="2952250" cy="496629"/>
          </a:xfrm>
          <a:prstGeom prst="rect">
            <a:avLst/>
          </a:prstGeom>
        </p:spPr>
        <p:txBody>
          <a:bodyPr vert="horz" lIns="63225" tIns="31612" rIns="63225" bIns="31612" rtlCol="0" anchor="b"/>
          <a:lstStyle>
            <a:lvl1pPr algn="l">
              <a:defRPr sz="8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8624" y="9443678"/>
            <a:ext cx="2952250" cy="496629"/>
          </a:xfrm>
          <a:prstGeom prst="rect">
            <a:avLst/>
          </a:prstGeom>
        </p:spPr>
        <p:txBody>
          <a:bodyPr vert="horz" lIns="63225" tIns="31612" rIns="63225" bIns="31612" rtlCol="0" anchor="b"/>
          <a:lstStyle>
            <a:lvl1pPr algn="r">
              <a:defRPr sz="800"/>
            </a:lvl1pPr>
          </a:lstStyle>
          <a:p>
            <a:fld id="{DD5F08D4-E5FA-4B4E-B647-69B65AFD57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24493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2250" cy="496629"/>
          </a:xfrm>
          <a:prstGeom prst="rect">
            <a:avLst/>
          </a:prstGeom>
        </p:spPr>
        <p:txBody>
          <a:bodyPr vert="horz" lIns="63225" tIns="31612" rIns="63225" bIns="31612" rtlCol="0"/>
          <a:lstStyle>
            <a:lvl1pPr algn="l">
              <a:defRPr sz="8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8624" y="0"/>
            <a:ext cx="2952250" cy="496629"/>
          </a:xfrm>
          <a:prstGeom prst="rect">
            <a:avLst/>
          </a:prstGeom>
        </p:spPr>
        <p:txBody>
          <a:bodyPr vert="horz" lIns="63225" tIns="31612" rIns="63225" bIns="31612" rtlCol="0"/>
          <a:lstStyle>
            <a:lvl1pPr algn="r">
              <a:defRPr sz="800"/>
            </a:lvl1pPr>
          </a:lstStyle>
          <a:p>
            <a:fld id="{4557FF47-9C38-48EB-80E7-D1305007A746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83213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3225" tIns="31612" rIns="63225" bIns="31612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0871" y="4722390"/>
            <a:ext cx="5450223" cy="4474077"/>
          </a:xfrm>
          <a:prstGeom prst="rect">
            <a:avLst/>
          </a:prstGeom>
        </p:spPr>
        <p:txBody>
          <a:bodyPr vert="horz" lIns="63225" tIns="31612" rIns="63225" bIns="31612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43678"/>
            <a:ext cx="2952250" cy="496629"/>
          </a:xfrm>
          <a:prstGeom prst="rect">
            <a:avLst/>
          </a:prstGeom>
        </p:spPr>
        <p:txBody>
          <a:bodyPr vert="horz" lIns="63225" tIns="31612" rIns="63225" bIns="31612" rtlCol="0" anchor="b"/>
          <a:lstStyle>
            <a:lvl1pPr algn="l">
              <a:defRPr sz="8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8624" y="9443678"/>
            <a:ext cx="2952250" cy="496629"/>
          </a:xfrm>
          <a:prstGeom prst="rect">
            <a:avLst/>
          </a:prstGeom>
        </p:spPr>
        <p:txBody>
          <a:bodyPr vert="horz" lIns="63225" tIns="31612" rIns="63225" bIns="31612" rtlCol="0" anchor="b"/>
          <a:lstStyle>
            <a:lvl1pPr algn="r">
              <a:defRPr sz="800"/>
            </a:lvl1pPr>
          </a:lstStyle>
          <a:p>
            <a:fld id="{081EAB43-E0FE-4AAF-B59B-A77191BAFC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411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78908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57816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36724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15631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394539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73447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52355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31263" algn="l" defTabSz="95781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2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261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0602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890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781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43672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563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45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734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5235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3126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22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26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908" indent="0">
              <a:buNone/>
              <a:defRPr sz="2100" b="1"/>
            </a:lvl2pPr>
            <a:lvl3pPr marL="957816" indent="0">
              <a:buNone/>
              <a:defRPr sz="1900" b="1"/>
            </a:lvl3pPr>
            <a:lvl4pPr marL="1436724" indent="0">
              <a:buNone/>
              <a:defRPr sz="1600" b="1"/>
            </a:lvl4pPr>
            <a:lvl5pPr marL="1915631" indent="0">
              <a:buNone/>
              <a:defRPr sz="1600" b="1"/>
            </a:lvl5pPr>
            <a:lvl6pPr marL="2394539" indent="0">
              <a:buNone/>
              <a:defRPr sz="1600" b="1"/>
            </a:lvl6pPr>
            <a:lvl7pPr marL="2873447" indent="0">
              <a:buNone/>
              <a:defRPr sz="1600" b="1"/>
            </a:lvl7pPr>
            <a:lvl8pPr marL="3352355" indent="0">
              <a:buNone/>
              <a:defRPr sz="1600" b="1"/>
            </a:lvl8pPr>
            <a:lvl9pPr marL="3831263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908" indent="0">
              <a:buNone/>
              <a:defRPr sz="2100" b="1"/>
            </a:lvl2pPr>
            <a:lvl3pPr marL="957816" indent="0">
              <a:buNone/>
              <a:defRPr sz="1900" b="1"/>
            </a:lvl3pPr>
            <a:lvl4pPr marL="1436724" indent="0">
              <a:buNone/>
              <a:defRPr sz="1600" b="1"/>
            </a:lvl4pPr>
            <a:lvl5pPr marL="1915631" indent="0">
              <a:buNone/>
              <a:defRPr sz="1600" b="1"/>
            </a:lvl5pPr>
            <a:lvl6pPr marL="2394539" indent="0">
              <a:buNone/>
              <a:defRPr sz="1600" b="1"/>
            </a:lvl6pPr>
            <a:lvl7pPr marL="2873447" indent="0">
              <a:buNone/>
              <a:defRPr sz="1600" b="1"/>
            </a:lvl7pPr>
            <a:lvl8pPr marL="3352355" indent="0">
              <a:buNone/>
              <a:defRPr sz="1600" b="1"/>
            </a:lvl8pPr>
            <a:lvl9pPr marL="3831263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36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15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77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5301" y="1435101"/>
            <a:ext cx="3259006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78908" indent="0">
              <a:buNone/>
              <a:defRPr sz="1300"/>
            </a:lvl2pPr>
            <a:lvl3pPr marL="957816" indent="0">
              <a:buNone/>
              <a:defRPr sz="1000"/>
            </a:lvl3pPr>
            <a:lvl4pPr marL="1436724" indent="0">
              <a:buNone/>
              <a:defRPr sz="1000"/>
            </a:lvl4pPr>
            <a:lvl5pPr marL="1915631" indent="0">
              <a:buNone/>
              <a:defRPr sz="1000"/>
            </a:lvl5pPr>
            <a:lvl6pPr marL="2394539" indent="0">
              <a:buNone/>
              <a:defRPr sz="1000"/>
            </a:lvl6pPr>
            <a:lvl7pPr marL="2873447" indent="0">
              <a:buNone/>
              <a:defRPr sz="1000"/>
            </a:lvl7pPr>
            <a:lvl8pPr marL="3352355" indent="0">
              <a:buNone/>
              <a:defRPr sz="1000"/>
            </a:lvl8pPr>
            <a:lvl9pPr marL="383126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6250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00"/>
            </a:lvl1pPr>
            <a:lvl2pPr marL="478908" indent="0">
              <a:buNone/>
              <a:defRPr sz="2900"/>
            </a:lvl2pPr>
            <a:lvl3pPr marL="957816" indent="0">
              <a:buNone/>
              <a:defRPr sz="2500"/>
            </a:lvl3pPr>
            <a:lvl4pPr marL="1436724" indent="0">
              <a:buNone/>
              <a:defRPr sz="2100"/>
            </a:lvl4pPr>
            <a:lvl5pPr marL="1915631" indent="0">
              <a:buNone/>
              <a:defRPr sz="2100"/>
            </a:lvl5pPr>
            <a:lvl6pPr marL="2394539" indent="0">
              <a:buNone/>
              <a:defRPr sz="2100"/>
            </a:lvl6pPr>
            <a:lvl7pPr marL="2873447" indent="0">
              <a:buNone/>
              <a:defRPr sz="2100"/>
            </a:lvl7pPr>
            <a:lvl8pPr marL="3352355" indent="0">
              <a:buNone/>
              <a:defRPr sz="2100"/>
            </a:lvl8pPr>
            <a:lvl9pPr marL="3831263" indent="0">
              <a:buNone/>
              <a:defRPr sz="21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00"/>
            </a:lvl1pPr>
            <a:lvl2pPr marL="478908" indent="0">
              <a:buNone/>
              <a:defRPr sz="1300"/>
            </a:lvl2pPr>
            <a:lvl3pPr marL="957816" indent="0">
              <a:buNone/>
              <a:defRPr sz="1000"/>
            </a:lvl3pPr>
            <a:lvl4pPr marL="1436724" indent="0">
              <a:buNone/>
              <a:defRPr sz="1000"/>
            </a:lvl4pPr>
            <a:lvl5pPr marL="1915631" indent="0">
              <a:buNone/>
              <a:defRPr sz="1000"/>
            </a:lvl5pPr>
            <a:lvl6pPr marL="2394539" indent="0">
              <a:buNone/>
              <a:defRPr sz="1000"/>
            </a:lvl6pPr>
            <a:lvl7pPr marL="2873447" indent="0">
              <a:buNone/>
              <a:defRPr sz="1000"/>
            </a:lvl7pPr>
            <a:lvl8pPr marL="3352355" indent="0">
              <a:buNone/>
              <a:defRPr sz="1000"/>
            </a:lvl8pPr>
            <a:lvl9pPr marL="383126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709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4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888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5782" tIns="47891" rIns="95782" bIns="47891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5782" tIns="47891" rIns="95782" bIns="47891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5782" tIns="47891" rIns="95782" bIns="4789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11B57-7B3A-42D5-A3BE-9298DE2669BC}" type="datetimeFigureOut">
              <a:rPr lang="fr-FR" smtClean="0"/>
              <a:t>07/02/2021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5782" tIns="47891" rIns="95782" bIns="4789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5782" tIns="47891" rIns="95782" bIns="4789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34227-7D17-4267-839D-4BD37F50E6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38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57816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81" indent="-359181" algn="l" defTabSz="95781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225" indent="-299317" algn="l" defTabSz="957816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270" indent="-239454" algn="l" defTabSz="957816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177" indent="-239454" algn="l" defTabSz="957816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085" indent="-239454" algn="l" defTabSz="957816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993" indent="-239454" algn="l" defTabSz="95781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01" indent="-239454" algn="l" defTabSz="95781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09" indent="-239454" algn="l" defTabSz="95781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717" indent="-239454" algn="l" defTabSz="95781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08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16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24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31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39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447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355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263" algn="l" defTabSz="95781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168017"/>
              </p:ext>
            </p:extLst>
          </p:nvPr>
        </p:nvGraphicFramePr>
        <p:xfrm>
          <a:off x="155573" y="1907764"/>
          <a:ext cx="9565194" cy="36348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42252"/>
                <a:gridCol w="1003047"/>
                <a:gridCol w="2592288"/>
                <a:gridCol w="1152128"/>
                <a:gridCol w="2175479"/>
              </a:tblGrid>
              <a:tr h="36910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Quel  objectif je souhaite atteindre ? </a:t>
                      </a:r>
                    </a:p>
                    <a:p>
                      <a:pPr algn="ctr"/>
                      <a:endParaRPr lang="fr-FR" sz="600" dirty="0" smtClean="0"/>
                    </a:p>
                    <a:p>
                      <a:pPr algn="ctr"/>
                      <a:r>
                        <a:rPr lang="fr-FR" sz="1050" b="1" u="sng" dirty="0" smtClean="0"/>
                        <a:t>=&gt;</a:t>
                      </a:r>
                      <a:r>
                        <a:rPr lang="fr-FR" sz="1050" b="1" u="sng" baseline="0" dirty="0" smtClean="0"/>
                        <a:t> objectif chiffré, mesurable, réalisable</a:t>
                      </a:r>
                      <a:endParaRPr lang="fr-FR" sz="1050" b="1" u="sng" dirty="0"/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ECHEANCE : Je veux y parvenir quand</a:t>
                      </a:r>
                      <a:r>
                        <a:rPr lang="fr-FR" sz="1050" baseline="0" dirty="0" smtClean="0"/>
                        <a:t> </a:t>
                      </a:r>
                      <a:r>
                        <a:rPr lang="fr-FR" sz="1050" dirty="0" smtClean="0"/>
                        <a:t>?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Comment je fais ? Que vais-je devoir changer ?</a:t>
                      </a:r>
                      <a:endParaRPr lang="fr-FR" sz="1050" dirty="0"/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QUI va le faire ? </a:t>
                      </a:r>
                    </a:p>
                    <a:p>
                      <a:pPr algn="ctr"/>
                      <a:r>
                        <a:rPr lang="fr-FR" sz="1050" dirty="0" smtClean="0"/>
                        <a:t>(Moi seul, mes associés…)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AVEC QUOI </a:t>
                      </a:r>
                    </a:p>
                    <a:p>
                      <a:pPr algn="ctr"/>
                      <a:r>
                        <a:rPr lang="fr-FR" sz="1050" dirty="0" smtClean="0"/>
                        <a:t>De quoi ai-je besoin </a:t>
                      </a:r>
                    </a:p>
                    <a:p>
                      <a:pPr algn="ctr"/>
                      <a:r>
                        <a:rPr lang="fr-FR" sz="1050" dirty="0" smtClean="0"/>
                        <a:t>pour y parvenir ?</a:t>
                      </a:r>
                    </a:p>
                  </a:txBody>
                  <a:tcPr marL="70757" marR="70757" marT="32657" marB="32657" anchor="ctr"/>
                </a:tc>
              </a:tr>
              <a:tr h="977522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</a:tr>
              <a:tr h="1055965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 smtClean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 smtClean="0"/>
                    </a:p>
                  </a:txBody>
                  <a:tcPr marL="70757" marR="70757" marT="32657" marB="32657"/>
                </a:tc>
              </a:tr>
              <a:tr h="1055965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 smtClean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 smtClean="0"/>
                    </a:p>
                  </a:txBody>
                  <a:tcPr marL="70757" marR="70757" marT="32657" marB="32657"/>
                </a:tc>
              </a:tr>
            </a:tbl>
          </a:graphicData>
        </a:graphic>
      </p:graphicFrame>
      <p:grpSp>
        <p:nvGrpSpPr>
          <p:cNvPr id="5" name="Groupe 4"/>
          <p:cNvGrpSpPr/>
          <p:nvPr/>
        </p:nvGrpSpPr>
        <p:grpSpPr>
          <a:xfrm>
            <a:off x="155977" y="1556792"/>
            <a:ext cx="9390312" cy="400110"/>
            <a:chOff x="301485" y="5331951"/>
            <a:chExt cx="10995859" cy="560154"/>
          </a:xfrm>
        </p:grpSpPr>
        <p:sp>
          <p:nvSpPr>
            <p:cNvPr id="6" name="ZoneTexte 5"/>
            <p:cNvSpPr txBox="1"/>
            <p:nvPr/>
          </p:nvSpPr>
          <p:spPr>
            <a:xfrm>
              <a:off x="301485" y="5331951"/>
              <a:ext cx="2773910" cy="560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latin typeface="Freestyle Script" pitchFamily="66" charset="0"/>
                </a:rPr>
                <a:t>Mon plan d’action </a:t>
              </a:r>
            </a:p>
          </p:txBody>
        </p:sp>
        <p:cxnSp>
          <p:nvCxnSpPr>
            <p:cNvPr id="7" name="Connecteur droit 6"/>
            <p:cNvCxnSpPr/>
            <p:nvPr/>
          </p:nvCxnSpPr>
          <p:spPr>
            <a:xfrm>
              <a:off x="301485" y="5745996"/>
              <a:ext cx="10995859" cy="0"/>
            </a:xfrm>
            <a:prstGeom prst="line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pic>
        <p:nvPicPr>
          <p:cNvPr id="8" name="Imag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552" y="-1"/>
            <a:ext cx="920864" cy="942263"/>
          </a:xfrm>
          <a:prstGeom prst="rect">
            <a:avLst/>
          </a:prstGeom>
          <a:noFill/>
        </p:spPr>
      </p:pic>
      <p:grpSp>
        <p:nvGrpSpPr>
          <p:cNvPr id="9" name="Groupe 8"/>
          <p:cNvGrpSpPr/>
          <p:nvPr/>
        </p:nvGrpSpPr>
        <p:grpSpPr>
          <a:xfrm>
            <a:off x="6249145" y="-1"/>
            <a:ext cx="3656856" cy="400808"/>
            <a:chOff x="86858" y="50797"/>
            <a:chExt cx="2915925" cy="436105"/>
          </a:xfrm>
        </p:grpSpPr>
        <p:sp>
          <p:nvSpPr>
            <p:cNvPr id="10" name="Organigramme : Alternative 9"/>
            <p:cNvSpPr/>
            <p:nvPr/>
          </p:nvSpPr>
          <p:spPr>
            <a:xfrm>
              <a:off x="86858" y="50797"/>
              <a:ext cx="2915925" cy="369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415" tIns="34208" rIns="68415" bIns="34208" rtlCol="0" anchor="ctr"/>
            <a:lstStyle/>
            <a:p>
              <a:pPr algn="ctr"/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103709" y="76852"/>
              <a:ext cx="970445" cy="410050"/>
            </a:xfrm>
            <a:prstGeom prst="rect">
              <a:avLst/>
            </a:prstGeom>
            <a:noFill/>
          </p:spPr>
          <p:txBody>
            <a:bodyPr wrap="none" lIns="68415" tIns="34208" rIns="68415" bIns="34208" rtlCol="0">
              <a:spAutoFit/>
            </a:bodyPr>
            <a:lstStyle/>
            <a:p>
              <a:r>
                <a:rPr lang="fr-FR" sz="2000" dirty="0">
                  <a:latin typeface="Freestyle Script" pitchFamily="66" charset="0"/>
                </a:rPr>
                <a:t>Prénom, nom :</a:t>
              </a:r>
            </a:p>
          </p:txBody>
        </p:sp>
      </p:grpSp>
      <p:sp>
        <p:nvSpPr>
          <p:cNvPr id="12" name="ZoneTexte 11"/>
          <p:cNvSpPr txBox="1"/>
          <p:nvPr/>
        </p:nvSpPr>
        <p:spPr>
          <a:xfrm>
            <a:off x="920552" y="48128"/>
            <a:ext cx="5304214" cy="284528"/>
          </a:xfrm>
          <a:prstGeom prst="rect">
            <a:avLst/>
          </a:prstGeom>
          <a:noFill/>
          <a:ln>
            <a:noFill/>
          </a:ln>
        </p:spPr>
        <p:txBody>
          <a:bodyPr wrap="square" lIns="68415" tIns="34208" rIns="68415" bIns="34208" rtlCol="0">
            <a:spAutoFit/>
          </a:bodyPr>
          <a:lstStyle/>
          <a:p>
            <a:pPr algn="ctr"/>
            <a:r>
              <a:rPr lang="fr-FR" sz="1400" b="1" dirty="0" smtClean="0"/>
              <a:t>Formation : Améliorer la conduite de ses prairies en élevage bovin</a:t>
            </a:r>
            <a:endParaRPr lang="fr-FR" sz="1400" b="1" dirty="0"/>
          </a:p>
        </p:txBody>
      </p:sp>
      <p:sp>
        <p:nvSpPr>
          <p:cNvPr id="13" name="Trapèze 12"/>
          <p:cNvSpPr/>
          <p:nvPr/>
        </p:nvSpPr>
        <p:spPr>
          <a:xfrm>
            <a:off x="776536" y="548680"/>
            <a:ext cx="8944232" cy="1008112"/>
          </a:xfrm>
          <a:prstGeom prst="trapezoid">
            <a:avLst>
              <a:gd name="adj" fmla="val 40873"/>
            </a:avLst>
          </a:prstGeom>
          <a:solidFill>
            <a:srgbClr val="F7F76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1136576" y="476672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Freestyle Script" pitchFamily="66" charset="0"/>
              </a:rPr>
              <a:t>Les bonnes idées que je retiens </a:t>
            </a:r>
            <a:r>
              <a:rPr lang="fr-FR" sz="2000" dirty="0" smtClean="0">
                <a:latin typeface="Freestyle Script" pitchFamily="66" charset="0"/>
              </a:rPr>
              <a:t>!</a:t>
            </a:r>
            <a:endParaRPr lang="fr-FR" sz="2000" dirty="0">
              <a:latin typeface="Freestyle Script" pitchFamily="66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70046" y="5691445"/>
            <a:ext cx="5270821" cy="109799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68415" tIns="34208" rIns="68415" bIns="34208" rtlCol="0">
            <a:spAutoFit/>
          </a:bodyPr>
          <a:lstStyle/>
          <a:p>
            <a:endParaRPr lang="fr-FR" sz="1000" dirty="0" smtClean="0"/>
          </a:p>
          <a:p>
            <a:endParaRPr lang="fr-FR" sz="1000" dirty="0"/>
          </a:p>
          <a:p>
            <a:endParaRPr lang="fr-FR" sz="1000" dirty="0" smtClean="0"/>
          </a:p>
          <a:p>
            <a:endParaRPr lang="fr-FR" sz="1000" dirty="0"/>
          </a:p>
          <a:p>
            <a:endParaRPr lang="fr-FR" sz="1000" dirty="0" smtClean="0"/>
          </a:p>
          <a:p>
            <a:endParaRPr lang="fr-FR" sz="1000" dirty="0" smtClean="0"/>
          </a:p>
        </p:txBody>
      </p:sp>
      <p:sp>
        <p:nvSpPr>
          <p:cNvPr id="16" name="ZoneTexte 15"/>
          <p:cNvSpPr txBox="1"/>
          <p:nvPr/>
        </p:nvSpPr>
        <p:spPr>
          <a:xfrm rot="21149897">
            <a:off x="8632864" y="6009378"/>
            <a:ext cx="1052567" cy="376861"/>
          </a:xfrm>
          <a:prstGeom prst="rect">
            <a:avLst/>
          </a:prstGeom>
          <a:noFill/>
        </p:spPr>
        <p:txBody>
          <a:bodyPr wrap="square" lIns="68415" tIns="34208" rIns="68415" bIns="34208" rtlCol="0">
            <a:spAutoFit/>
          </a:bodyPr>
          <a:lstStyle/>
          <a:p>
            <a:r>
              <a:rPr lang="fr-FR" sz="2000" b="1" dirty="0" smtClean="0">
                <a:latin typeface="Freestyle Script" pitchFamily="66" charset="0"/>
              </a:rPr>
              <a:t>C’est parti !</a:t>
            </a:r>
            <a:endParaRPr lang="fr-FR" sz="2000" b="1" dirty="0">
              <a:latin typeface="Freestyle Script" pitchFamily="66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224079" y="5621178"/>
            <a:ext cx="2368881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Freestyle Script" pitchFamily="66" charset="0"/>
              </a:rPr>
              <a:t>J’ai besoin de me renseigner sur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08" t="27011" b="21668"/>
          <a:stretch/>
        </p:blipFill>
        <p:spPr>
          <a:xfrm>
            <a:off x="6680786" y="5589240"/>
            <a:ext cx="1931981" cy="121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0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699205"/>
              </p:ext>
            </p:extLst>
          </p:nvPr>
        </p:nvGraphicFramePr>
        <p:xfrm>
          <a:off x="155573" y="442246"/>
          <a:ext cx="9565194" cy="60110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42252"/>
                <a:gridCol w="1003047"/>
                <a:gridCol w="2592288"/>
                <a:gridCol w="1152128"/>
                <a:gridCol w="2175479"/>
              </a:tblGrid>
              <a:tr h="901912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Quel  objectif je souhaite atteindre ? </a:t>
                      </a:r>
                    </a:p>
                    <a:p>
                      <a:pPr algn="ctr"/>
                      <a:endParaRPr lang="fr-FR" sz="600" dirty="0" smtClean="0"/>
                    </a:p>
                    <a:p>
                      <a:pPr algn="ctr"/>
                      <a:r>
                        <a:rPr lang="fr-FR" sz="1050" b="1" u="sng" dirty="0" smtClean="0"/>
                        <a:t>=&gt;</a:t>
                      </a:r>
                      <a:r>
                        <a:rPr lang="fr-FR" sz="1050" b="1" u="sng" baseline="0" dirty="0" smtClean="0"/>
                        <a:t> objectif chiffré, mesurable, réalisable</a:t>
                      </a:r>
                      <a:endParaRPr lang="fr-FR" sz="1050" b="1" u="sng" dirty="0"/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ECHEANCE : Je veux y parvenir quand</a:t>
                      </a:r>
                      <a:r>
                        <a:rPr lang="fr-FR" sz="1050" baseline="0" dirty="0" smtClean="0"/>
                        <a:t> </a:t>
                      </a:r>
                      <a:r>
                        <a:rPr lang="fr-FR" sz="1050" dirty="0" smtClean="0"/>
                        <a:t>?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Comment je fais ? Que vais-je devoir changer ?</a:t>
                      </a:r>
                      <a:endParaRPr lang="fr-FR" sz="1050" dirty="0"/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QUI va le faire ? </a:t>
                      </a:r>
                    </a:p>
                    <a:p>
                      <a:pPr algn="ctr"/>
                      <a:r>
                        <a:rPr lang="fr-FR" sz="1050" dirty="0" smtClean="0"/>
                        <a:t>(Moi seul, mes associés…)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/>
                        <a:t>AVEC QUOI </a:t>
                      </a:r>
                    </a:p>
                    <a:p>
                      <a:pPr algn="ctr"/>
                      <a:r>
                        <a:rPr lang="fr-FR" sz="1050" dirty="0" smtClean="0"/>
                        <a:t>De quoi ai-je besoin </a:t>
                      </a:r>
                    </a:p>
                    <a:p>
                      <a:pPr algn="ctr"/>
                      <a:r>
                        <a:rPr lang="fr-FR" sz="1050" dirty="0" smtClean="0"/>
                        <a:t>pour y parvenir ?</a:t>
                      </a:r>
                    </a:p>
                  </a:txBody>
                  <a:tcPr marL="70757" marR="70757" marT="32657" marB="32657" anchor="ctr"/>
                </a:tc>
              </a:tr>
              <a:tr h="1616576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</a:tr>
              <a:tr h="1746301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 smtClean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 smtClean="0"/>
                    </a:p>
                  </a:txBody>
                  <a:tcPr marL="70757" marR="70757" marT="32657" marB="32657"/>
                </a:tc>
              </a:tr>
              <a:tr h="1746301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 smtClean="0"/>
                    </a:p>
                  </a:txBody>
                  <a:tcPr marL="70757" marR="70757" marT="32657" marB="32657"/>
                </a:tc>
                <a:tc>
                  <a:txBody>
                    <a:bodyPr/>
                    <a:lstStyle/>
                    <a:p>
                      <a:endParaRPr lang="fr-FR" sz="800" dirty="0" smtClean="0"/>
                    </a:p>
                  </a:txBody>
                  <a:tcPr marL="70757" marR="70757" marT="32657" marB="32657"/>
                </a:tc>
              </a:tr>
            </a:tbl>
          </a:graphicData>
        </a:graphic>
      </p:graphicFrame>
      <p:grpSp>
        <p:nvGrpSpPr>
          <p:cNvPr id="5" name="Groupe 4"/>
          <p:cNvGrpSpPr/>
          <p:nvPr/>
        </p:nvGrpSpPr>
        <p:grpSpPr>
          <a:xfrm>
            <a:off x="155977" y="91274"/>
            <a:ext cx="9390312" cy="400110"/>
            <a:chOff x="301485" y="5331951"/>
            <a:chExt cx="10995859" cy="560154"/>
          </a:xfrm>
        </p:grpSpPr>
        <p:sp>
          <p:nvSpPr>
            <p:cNvPr id="6" name="ZoneTexte 5"/>
            <p:cNvSpPr txBox="1"/>
            <p:nvPr/>
          </p:nvSpPr>
          <p:spPr>
            <a:xfrm>
              <a:off x="301485" y="5331951"/>
              <a:ext cx="2773910" cy="560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latin typeface="Freestyle Script" pitchFamily="66" charset="0"/>
                </a:rPr>
                <a:t>Mon plan </a:t>
              </a:r>
              <a:r>
                <a:rPr lang="fr-FR" sz="2000" dirty="0" smtClean="0">
                  <a:solidFill>
                    <a:schemeClr val="tx1"/>
                  </a:solidFill>
                  <a:latin typeface="Freestyle Script" pitchFamily="66" charset="0"/>
                </a:rPr>
                <a:t>d’action (suite) </a:t>
              </a:r>
              <a:endParaRPr lang="fr-FR" sz="2000" dirty="0">
                <a:solidFill>
                  <a:schemeClr val="tx1"/>
                </a:solidFill>
                <a:latin typeface="Freestyle Script" pitchFamily="66" charset="0"/>
              </a:endParaRPr>
            </a:p>
          </p:txBody>
        </p:sp>
        <p:cxnSp>
          <p:nvCxnSpPr>
            <p:cNvPr id="7" name="Connecteur droit 6"/>
            <p:cNvCxnSpPr/>
            <p:nvPr/>
          </p:nvCxnSpPr>
          <p:spPr>
            <a:xfrm>
              <a:off x="301485" y="5745996"/>
              <a:ext cx="10995859" cy="0"/>
            </a:xfrm>
            <a:prstGeom prst="line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42945820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7F763"/>
        </a:solidFill>
        <a:ln>
          <a:solidFill>
            <a:srgbClr val="FFC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144</Words>
  <Application>Microsoft Office PowerPoint</Application>
  <PresentationFormat>Format A4 (210 x 297 mm)</PresentationFormat>
  <Paragraphs>31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Présentation PowerPoint</vt:lpstr>
      <vt:lpstr>Présentation PowerPoint</vt:lpstr>
    </vt:vector>
  </TitlesOfParts>
  <Company>CAPDL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FRADIN Christelle</dc:creator>
  <cp:lastModifiedBy>MICHEL Elise</cp:lastModifiedBy>
  <cp:revision>46</cp:revision>
  <cp:lastPrinted>2016-01-08T15:08:12Z</cp:lastPrinted>
  <dcterms:created xsi:type="dcterms:W3CDTF">2014-10-14T13:39:24Z</dcterms:created>
  <dcterms:modified xsi:type="dcterms:W3CDTF">2021-02-07T19:20:48Z</dcterms:modified>
</cp:coreProperties>
</file>